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F1CDC0-3CEE-4531-BE8F-C5C22FE2C5C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559425-6059-4C27-9DC9-F14B4C18BF47}">
      <dgm:prSet/>
      <dgm:spPr/>
      <dgm:t>
        <a:bodyPr/>
        <a:lstStyle/>
        <a:p>
          <a:r>
            <a:rPr lang="fi-FI" b="1"/>
            <a:t>Hyvä salasana on pitkä, monimutkainen, uniikki ja mielellään salasananhallinnan muistama.</a:t>
          </a:r>
          <a:endParaRPr lang="en-US"/>
        </a:p>
      </dgm:t>
    </dgm:pt>
    <dgm:pt modelId="{F184FD25-3B05-42BA-B5BA-8B06F783926C}" type="parTrans" cxnId="{E9B6803C-4B7F-4E24-89D5-BAC3720D34AD}">
      <dgm:prSet/>
      <dgm:spPr/>
      <dgm:t>
        <a:bodyPr/>
        <a:lstStyle/>
        <a:p>
          <a:endParaRPr lang="en-US"/>
        </a:p>
      </dgm:t>
    </dgm:pt>
    <dgm:pt modelId="{6BF8AD68-810D-47A9-A0DB-954304B69C86}" type="sibTrans" cxnId="{E9B6803C-4B7F-4E24-89D5-BAC3720D34AD}">
      <dgm:prSet/>
      <dgm:spPr/>
      <dgm:t>
        <a:bodyPr/>
        <a:lstStyle/>
        <a:p>
          <a:endParaRPr lang="en-US"/>
        </a:p>
      </dgm:t>
    </dgm:pt>
    <dgm:pt modelId="{8F597DDB-FAEB-4593-B59C-F4033D449CDC}">
      <dgm:prSet/>
      <dgm:spPr/>
      <dgm:t>
        <a:bodyPr/>
        <a:lstStyle/>
        <a:p>
          <a:r>
            <a:rPr lang="fi-FI" b="1"/>
            <a:t>Kryptaus suojaa tietoa – mutta vain, jos avaimet pysyvät turvassa.</a:t>
          </a:r>
          <a:endParaRPr lang="en-US"/>
        </a:p>
      </dgm:t>
    </dgm:pt>
    <dgm:pt modelId="{3D63C996-4C43-4613-A3D6-40A985BB8E82}" type="parTrans" cxnId="{E33286B2-1600-48BC-87E2-395884ACCE60}">
      <dgm:prSet/>
      <dgm:spPr/>
      <dgm:t>
        <a:bodyPr/>
        <a:lstStyle/>
        <a:p>
          <a:endParaRPr lang="en-US"/>
        </a:p>
      </dgm:t>
    </dgm:pt>
    <dgm:pt modelId="{6C53DDA7-1F08-48C7-8073-DE8E80DEBE43}" type="sibTrans" cxnId="{E33286B2-1600-48BC-87E2-395884ACCE60}">
      <dgm:prSet/>
      <dgm:spPr/>
      <dgm:t>
        <a:bodyPr/>
        <a:lstStyle/>
        <a:p>
          <a:endParaRPr lang="en-US"/>
        </a:p>
      </dgm:t>
    </dgm:pt>
    <dgm:pt modelId="{24511F7B-58EF-49BF-912E-D84ED616B539}">
      <dgm:prSet/>
      <dgm:spPr/>
      <dgm:t>
        <a:bodyPr/>
        <a:lstStyle/>
        <a:p>
          <a:r>
            <a:rPr lang="fi-FI" b="1"/>
            <a:t>Tietoturva alkaa käyttäjästä.</a:t>
          </a:r>
          <a:endParaRPr lang="en-US"/>
        </a:p>
      </dgm:t>
    </dgm:pt>
    <dgm:pt modelId="{9944EC92-E6BC-416F-9597-BD83D5D4665D}" type="parTrans" cxnId="{E73778B7-2CFD-48F0-94F3-AEC11800ACFD}">
      <dgm:prSet/>
      <dgm:spPr/>
      <dgm:t>
        <a:bodyPr/>
        <a:lstStyle/>
        <a:p>
          <a:endParaRPr lang="en-US"/>
        </a:p>
      </dgm:t>
    </dgm:pt>
    <dgm:pt modelId="{D48C0591-592A-401E-A9C3-47F3F458A117}" type="sibTrans" cxnId="{E73778B7-2CFD-48F0-94F3-AEC11800ACFD}">
      <dgm:prSet/>
      <dgm:spPr/>
      <dgm:t>
        <a:bodyPr/>
        <a:lstStyle/>
        <a:p>
          <a:endParaRPr lang="en-US"/>
        </a:p>
      </dgm:t>
    </dgm:pt>
    <dgm:pt modelId="{186A1949-24BD-4F26-8123-088EEE6CF12C}" type="pres">
      <dgm:prSet presAssocID="{5AF1CDC0-3CEE-4531-BE8F-C5C22FE2C5C4}" presName="root" presStyleCnt="0">
        <dgm:presLayoutVars>
          <dgm:dir/>
          <dgm:resizeHandles val="exact"/>
        </dgm:presLayoutVars>
      </dgm:prSet>
      <dgm:spPr/>
    </dgm:pt>
    <dgm:pt modelId="{966EF811-B68F-4946-9625-5D0F71C7C018}" type="pres">
      <dgm:prSet presAssocID="{97559425-6059-4C27-9DC9-F14B4C18BF47}" presName="compNode" presStyleCnt="0"/>
      <dgm:spPr/>
    </dgm:pt>
    <dgm:pt modelId="{23685984-7586-4519-8ADD-E3925058D8DB}" type="pres">
      <dgm:prSet presAssocID="{97559425-6059-4C27-9DC9-F14B4C18BF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222D0E79-A57F-412D-9691-9A094070203E}" type="pres">
      <dgm:prSet presAssocID="{97559425-6059-4C27-9DC9-F14B4C18BF47}" presName="spaceRect" presStyleCnt="0"/>
      <dgm:spPr/>
    </dgm:pt>
    <dgm:pt modelId="{B1646994-4F1D-4C71-ABFC-F70796E62E1B}" type="pres">
      <dgm:prSet presAssocID="{97559425-6059-4C27-9DC9-F14B4C18BF47}" presName="textRect" presStyleLbl="revTx" presStyleIdx="0" presStyleCnt="3">
        <dgm:presLayoutVars>
          <dgm:chMax val="1"/>
          <dgm:chPref val="1"/>
        </dgm:presLayoutVars>
      </dgm:prSet>
      <dgm:spPr/>
    </dgm:pt>
    <dgm:pt modelId="{428E047F-E47B-4012-8C7D-A3F6C95B0FF3}" type="pres">
      <dgm:prSet presAssocID="{6BF8AD68-810D-47A9-A0DB-954304B69C86}" presName="sibTrans" presStyleCnt="0"/>
      <dgm:spPr/>
    </dgm:pt>
    <dgm:pt modelId="{85934108-CCBC-40D8-B9CF-F0E9307068C9}" type="pres">
      <dgm:prSet presAssocID="{8F597DDB-FAEB-4593-B59C-F4033D449CDC}" presName="compNode" presStyleCnt="0"/>
      <dgm:spPr/>
    </dgm:pt>
    <dgm:pt modelId="{78D948C6-21D1-4A85-9A65-3912C348B7A6}" type="pres">
      <dgm:prSet presAssocID="{8F597DDB-FAEB-4593-B59C-F4033D449C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kitse"/>
        </a:ext>
      </dgm:extLst>
    </dgm:pt>
    <dgm:pt modelId="{DCF21D74-0C05-47E6-9B8D-56E2E1380F92}" type="pres">
      <dgm:prSet presAssocID="{8F597DDB-FAEB-4593-B59C-F4033D449CDC}" presName="spaceRect" presStyleCnt="0"/>
      <dgm:spPr/>
    </dgm:pt>
    <dgm:pt modelId="{1265681F-DA3E-48C7-9446-B0D6FBB19D13}" type="pres">
      <dgm:prSet presAssocID="{8F597DDB-FAEB-4593-B59C-F4033D449CDC}" presName="textRect" presStyleLbl="revTx" presStyleIdx="1" presStyleCnt="3">
        <dgm:presLayoutVars>
          <dgm:chMax val="1"/>
          <dgm:chPref val="1"/>
        </dgm:presLayoutVars>
      </dgm:prSet>
      <dgm:spPr/>
    </dgm:pt>
    <dgm:pt modelId="{7E7F1B3F-C321-490E-BE95-2184D9A47D69}" type="pres">
      <dgm:prSet presAssocID="{6C53DDA7-1F08-48C7-8073-DE8E80DEBE43}" presName="sibTrans" presStyleCnt="0"/>
      <dgm:spPr/>
    </dgm:pt>
    <dgm:pt modelId="{1EAADC86-21D2-4622-BA99-1FBB20EF3778}" type="pres">
      <dgm:prSet presAssocID="{24511F7B-58EF-49BF-912E-D84ED616B539}" presName="compNode" presStyleCnt="0"/>
      <dgm:spPr/>
    </dgm:pt>
    <dgm:pt modelId="{7CF6349C-55A1-4563-841E-8931E2F97663}" type="pres">
      <dgm:prSet presAssocID="{24511F7B-58EF-49BF-912E-D84ED616B5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yömiä"/>
        </a:ext>
      </dgm:extLst>
    </dgm:pt>
    <dgm:pt modelId="{EC9C0624-1639-432A-8858-16CF56AF9FBF}" type="pres">
      <dgm:prSet presAssocID="{24511F7B-58EF-49BF-912E-D84ED616B539}" presName="spaceRect" presStyleCnt="0"/>
      <dgm:spPr/>
    </dgm:pt>
    <dgm:pt modelId="{BF9AF136-9E24-441D-97FA-F664CBBE61D2}" type="pres">
      <dgm:prSet presAssocID="{24511F7B-58EF-49BF-912E-D84ED616B53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9B6803C-4B7F-4E24-89D5-BAC3720D34AD}" srcId="{5AF1CDC0-3CEE-4531-BE8F-C5C22FE2C5C4}" destId="{97559425-6059-4C27-9DC9-F14B4C18BF47}" srcOrd="0" destOrd="0" parTransId="{F184FD25-3B05-42BA-B5BA-8B06F783926C}" sibTransId="{6BF8AD68-810D-47A9-A0DB-954304B69C86}"/>
    <dgm:cxn modelId="{34F19185-7C59-4159-809B-06B9D09346C6}" type="presOf" srcId="{8F597DDB-FAEB-4593-B59C-F4033D449CDC}" destId="{1265681F-DA3E-48C7-9446-B0D6FBB19D13}" srcOrd="0" destOrd="0" presId="urn:microsoft.com/office/officeart/2018/2/layout/IconLabelList"/>
    <dgm:cxn modelId="{FB18C39D-6057-4CBD-89D6-26515D46441B}" type="presOf" srcId="{97559425-6059-4C27-9DC9-F14B4C18BF47}" destId="{B1646994-4F1D-4C71-ABFC-F70796E62E1B}" srcOrd="0" destOrd="0" presId="urn:microsoft.com/office/officeart/2018/2/layout/IconLabelList"/>
    <dgm:cxn modelId="{B2F7649F-A19D-4D29-BCFC-10F1B1CAC822}" type="presOf" srcId="{24511F7B-58EF-49BF-912E-D84ED616B539}" destId="{BF9AF136-9E24-441D-97FA-F664CBBE61D2}" srcOrd="0" destOrd="0" presId="urn:microsoft.com/office/officeart/2018/2/layout/IconLabelList"/>
    <dgm:cxn modelId="{E33286B2-1600-48BC-87E2-395884ACCE60}" srcId="{5AF1CDC0-3CEE-4531-BE8F-C5C22FE2C5C4}" destId="{8F597DDB-FAEB-4593-B59C-F4033D449CDC}" srcOrd="1" destOrd="0" parTransId="{3D63C996-4C43-4613-A3D6-40A985BB8E82}" sibTransId="{6C53DDA7-1F08-48C7-8073-DE8E80DEBE43}"/>
    <dgm:cxn modelId="{E73778B7-2CFD-48F0-94F3-AEC11800ACFD}" srcId="{5AF1CDC0-3CEE-4531-BE8F-C5C22FE2C5C4}" destId="{24511F7B-58EF-49BF-912E-D84ED616B539}" srcOrd="2" destOrd="0" parTransId="{9944EC92-E6BC-416F-9597-BD83D5D4665D}" sibTransId="{D48C0591-592A-401E-A9C3-47F3F458A117}"/>
    <dgm:cxn modelId="{4B9763D4-EB26-4861-9FBE-1487C2476A9F}" type="presOf" srcId="{5AF1CDC0-3CEE-4531-BE8F-C5C22FE2C5C4}" destId="{186A1949-24BD-4F26-8123-088EEE6CF12C}" srcOrd="0" destOrd="0" presId="urn:microsoft.com/office/officeart/2018/2/layout/IconLabelList"/>
    <dgm:cxn modelId="{CD87F825-4A2F-4463-AFB3-3E9718C763C1}" type="presParOf" srcId="{186A1949-24BD-4F26-8123-088EEE6CF12C}" destId="{966EF811-B68F-4946-9625-5D0F71C7C018}" srcOrd="0" destOrd="0" presId="urn:microsoft.com/office/officeart/2018/2/layout/IconLabelList"/>
    <dgm:cxn modelId="{A8E9777C-45D1-46D8-8D6B-4C344992846E}" type="presParOf" srcId="{966EF811-B68F-4946-9625-5D0F71C7C018}" destId="{23685984-7586-4519-8ADD-E3925058D8DB}" srcOrd="0" destOrd="0" presId="urn:microsoft.com/office/officeart/2018/2/layout/IconLabelList"/>
    <dgm:cxn modelId="{26DBAAD4-DA67-4C8D-B492-89BFF248260B}" type="presParOf" srcId="{966EF811-B68F-4946-9625-5D0F71C7C018}" destId="{222D0E79-A57F-412D-9691-9A094070203E}" srcOrd="1" destOrd="0" presId="urn:microsoft.com/office/officeart/2018/2/layout/IconLabelList"/>
    <dgm:cxn modelId="{F03FF428-EE71-40D9-9EEE-8A0BBB2042EF}" type="presParOf" srcId="{966EF811-B68F-4946-9625-5D0F71C7C018}" destId="{B1646994-4F1D-4C71-ABFC-F70796E62E1B}" srcOrd="2" destOrd="0" presId="urn:microsoft.com/office/officeart/2018/2/layout/IconLabelList"/>
    <dgm:cxn modelId="{FBBF8CC6-6C70-4656-BF0B-D5FA00F84B74}" type="presParOf" srcId="{186A1949-24BD-4F26-8123-088EEE6CF12C}" destId="{428E047F-E47B-4012-8C7D-A3F6C95B0FF3}" srcOrd="1" destOrd="0" presId="urn:microsoft.com/office/officeart/2018/2/layout/IconLabelList"/>
    <dgm:cxn modelId="{5F70812C-D48E-4F34-AA36-F9A6654D0D61}" type="presParOf" srcId="{186A1949-24BD-4F26-8123-088EEE6CF12C}" destId="{85934108-CCBC-40D8-B9CF-F0E9307068C9}" srcOrd="2" destOrd="0" presId="urn:microsoft.com/office/officeart/2018/2/layout/IconLabelList"/>
    <dgm:cxn modelId="{3029C202-C3CE-4AB3-9B51-CA7A3689A4A0}" type="presParOf" srcId="{85934108-CCBC-40D8-B9CF-F0E9307068C9}" destId="{78D948C6-21D1-4A85-9A65-3912C348B7A6}" srcOrd="0" destOrd="0" presId="urn:microsoft.com/office/officeart/2018/2/layout/IconLabelList"/>
    <dgm:cxn modelId="{4C76FB35-4D37-44FD-8334-AD1FDAD8E7A4}" type="presParOf" srcId="{85934108-CCBC-40D8-B9CF-F0E9307068C9}" destId="{DCF21D74-0C05-47E6-9B8D-56E2E1380F92}" srcOrd="1" destOrd="0" presId="urn:microsoft.com/office/officeart/2018/2/layout/IconLabelList"/>
    <dgm:cxn modelId="{A53F4EEB-7F28-418A-A8E1-0C74C3A1AC54}" type="presParOf" srcId="{85934108-CCBC-40D8-B9CF-F0E9307068C9}" destId="{1265681F-DA3E-48C7-9446-B0D6FBB19D13}" srcOrd="2" destOrd="0" presId="urn:microsoft.com/office/officeart/2018/2/layout/IconLabelList"/>
    <dgm:cxn modelId="{0700C6DE-FBCA-4FEB-9395-CBF11E35F8B4}" type="presParOf" srcId="{186A1949-24BD-4F26-8123-088EEE6CF12C}" destId="{7E7F1B3F-C321-490E-BE95-2184D9A47D69}" srcOrd="3" destOrd="0" presId="urn:microsoft.com/office/officeart/2018/2/layout/IconLabelList"/>
    <dgm:cxn modelId="{411BD9B5-48CB-42AF-A110-682FCB8489CC}" type="presParOf" srcId="{186A1949-24BD-4F26-8123-088EEE6CF12C}" destId="{1EAADC86-21D2-4622-BA99-1FBB20EF3778}" srcOrd="4" destOrd="0" presId="urn:microsoft.com/office/officeart/2018/2/layout/IconLabelList"/>
    <dgm:cxn modelId="{1CDFE1B8-D2C0-4CFD-B44A-C9A27DF98CAD}" type="presParOf" srcId="{1EAADC86-21D2-4622-BA99-1FBB20EF3778}" destId="{7CF6349C-55A1-4563-841E-8931E2F97663}" srcOrd="0" destOrd="0" presId="urn:microsoft.com/office/officeart/2018/2/layout/IconLabelList"/>
    <dgm:cxn modelId="{27E98233-04CA-4144-832C-7E464A245EF0}" type="presParOf" srcId="{1EAADC86-21D2-4622-BA99-1FBB20EF3778}" destId="{EC9C0624-1639-432A-8858-16CF56AF9FBF}" srcOrd="1" destOrd="0" presId="urn:microsoft.com/office/officeart/2018/2/layout/IconLabelList"/>
    <dgm:cxn modelId="{5F81A12C-FF21-4AC8-B37B-C276088B75BB}" type="presParOf" srcId="{1EAADC86-21D2-4622-BA99-1FBB20EF3778}" destId="{BF9AF136-9E24-441D-97FA-F664CBBE61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85984-7586-4519-8ADD-E3925058D8DB}">
      <dsp:nvSpPr>
        <dsp:cNvPr id="0" name=""/>
        <dsp:cNvSpPr/>
      </dsp:nvSpPr>
      <dsp:spPr>
        <a:xfrm>
          <a:off x="952041" y="928880"/>
          <a:ext cx="1453010" cy="14530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46994-4F1D-4C71-ABFC-F70796E62E1B}">
      <dsp:nvSpPr>
        <dsp:cNvPr id="0" name=""/>
        <dsp:cNvSpPr/>
      </dsp:nvSpPr>
      <dsp:spPr>
        <a:xfrm>
          <a:off x="64090" y="2765473"/>
          <a:ext cx="32289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400" b="1" kern="1200"/>
            <a:t>Hyvä salasana on pitkä, monimutkainen, uniikki ja mielellään salasananhallinnan muistama.</a:t>
          </a:r>
          <a:endParaRPr lang="en-US" sz="1400" kern="1200"/>
        </a:p>
      </dsp:txBody>
      <dsp:txXfrm>
        <a:off x="64090" y="2765473"/>
        <a:ext cx="3228912" cy="720000"/>
      </dsp:txXfrm>
    </dsp:sp>
    <dsp:sp modelId="{78D948C6-21D1-4A85-9A65-3912C348B7A6}">
      <dsp:nvSpPr>
        <dsp:cNvPr id="0" name=""/>
        <dsp:cNvSpPr/>
      </dsp:nvSpPr>
      <dsp:spPr>
        <a:xfrm>
          <a:off x="4746013" y="928880"/>
          <a:ext cx="1453010" cy="14530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5681F-DA3E-48C7-9446-B0D6FBB19D13}">
      <dsp:nvSpPr>
        <dsp:cNvPr id="0" name=""/>
        <dsp:cNvSpPr/>
      </dsp:nvSpPr>
      <dsp:spPr>
        <a:xfrm>
          <a:off x="3858062" y="2765473"/>
          <a:ext cx="32289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400" b="1" kern="1200"/>
            <a:t>Kryptaus suojaa tietoa – mutta vain, jos avaimet pysyvät turvassa.</a:t>
          </a:r>
          <a:endParaRPr lang="en-US" sz="1400" kern="1200"/>
        </a:p>
      </dsp:txBody>
      <dsp:txXfrm>
        <a:off x="3858062" y="2765473"/>
        <a:ext cx="3228912" cy="720000"/>
      </dsp:txXfrm>
    </dsp:sp>
    <dsp:sp modelId="{7CF6349C-55A1-4563-841E-8931E2F97663}">
      <dsp:nvSpPr>
        <dsp:cNvPr id="0" name=""/>
        <dsp:cNvSpPr/>
      </dsp:nvSpPr>
      <dsp:spPr>
        <a:xfrm>
          <a:off x="8539984" y="928880"/>
          <a:ext cx="1453010" cy="14530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AF136-9E24-441D-97FA-F664CBBE61D2}">
      <dsp:nvSpPr>
        <dsp:cNvPr id="0" name=""/>
        <dsp:cNvSpPr/>
      </dsp:nvSpPr>
      <dsp:spPr>
        <a:xfrm>
          <a:off x="7652034" y="2765473"/>
          <a:ext cx="32289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400" b="1" kern="1200"/>
            <a:t>Tietoturva alkaa käyttäjästä.</a:t>
          </a:r>
          <a:endParaRPr lang="en-US" sz="1400" kern="1200"/>
        </a:p>
      </dsp:txBody>
      <dsp:txXfrm>
        <a:off x="7652034" y="2765473"/>
        <a:ext cx="32289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8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78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1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0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1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2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25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1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9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2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4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4CF1A21-086C-BFD8-ED6B-DC1D9EBC1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fi-FI" sz="3700"/>
              <a:t>Turvallisuuden perusta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D9580AD9-F45E-67C7-3C2B-91662138A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fi-FI" dirty="0"/>
              <a:t>Salasanat &amp; Kryptaus</a:t>
            </a:r>
            <a:endParaRPr lang="fi-FI"/>
          </a:p>
        </p:txBody>
      </p:sp>
      <p:pic>
        <p:nvPicPr>
          <p:cNvPr id="4" name="Picture 3" descr="Kuutioissa yhdistetty käyttäen punainen viivaa">
            <a:extLst>
              <a:ext uri="{FF2B5EF4-FFF2-40B4-BE49-F238E27FC236}">
                <a16:creationId xmlns:a16="http://schemas.microsoft.com/office/drawing/2014/main" id="{BBABC68A-5715-331C-2397-8686AD17F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53" r="2923" b="-1"/>
          <a:stretch/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38B697C-CBAD-B05F-E6BD-35EA2D91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Kaksi tapaa käyttää salasanoja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C9B2629-FBC4-FF26-DF51-9733FB724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i-FI" dirty="0"/>
              <a:t>Selväkielinen tallennus:</a:t>
            </a:r>
          </a:p>
          <a:p>
            <a:pPr lvl="1"/>
            <a:r>
              <a:rPr lang="fi-FI" dirty="0"/>
              <a:t>Salasana tallennetaan suoraan tietokantaan</a:t>
            </a:r>
          </a:p>
          <a:p>
            <a:pPr lvl="1"/>
            <a:r>
              <a:rPr lang="fi-FI" dirty="0"/>
              <a:t>Esim. 'salasana123’</a:t>
            </a:r>
          </a:p>
          <a:p>
            <a:pPr lvl="1"/>
            <a:r>
              <a:rPr lang="fi-FI" dirty="0"/>
              <a:t>Vaarallinen: tietomurrossa kaikki salasanat paljastuvat</a:t>
            </a:r>
          </a:p>
          <a:p>
            <a:pPr lvl="1"/>
            <a:endParaRPr lang="fi-FI" dirty="0"/>
          </a:p>
          <a:p>
            <a:pPr marL="457200" indent="-457200">
              <a:buFont typeface="+mj-lt"/>
              <a:buAutoNum type="arabicPeriod"/>
            </a:pPr>
            <a:r>
              <a:rPr lang="fi-FI" dirty="0"/>
              <a:t>Hajautus (</a:t>
            </a:r>
            <a:r>
              <a:rPr lang="fi-FI" dirty="0" err="1"/>
              <a:t>hashing</a:t>
            </a:r>
            <a:r>
              <a:rPr lang="fi-FI" dirty="0"/>
              <a:t>):</a:t>
            </a:r>
          </a:p>
          <a:p>
            <a:pPr lvl="1"/>
            <a:r>
              <a:rPr lang="fi-FI" dirty="0"/>
              <a:t> Salasana muutetaan hajautusarvoksi.</a:t>
            </a:r>
          </a:p>
          <a:p>
            <a:pPr lvl="1"/>
            <a:r>
              <a:rPr lang="fi-FI" dirty="0"/>
              <a:t>Esim. SHA-256('salasana123') = 'ef92b...'</a:t>
            </a:r>
          </a:p>
          <a:p>
            <a:pPr lvl="1"/>
            <a:r>
              <a:rPr lang="fi-FI" dirty="0"/>
              <a:t>Turvallisempi tapa, koska alkuperäistä salasanaa ei voi palauttaa </a:t>
            </a:r>
            <a:r>
              <a:rPr lang="fi-FI" dirty="0" err="1"/>
              <a:t>hashista</a:t>
            </a:r>
            <a:r>
              <a:rPr lang="fi-FI" dirty="0"/>
              <a:t>.</a:t>
            </a:r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2077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E85C9996-435F-AE46-F26F-0B98B9E1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77" y="424529"/>
            <a:ext cx="7214180" cy="1360728"/>
          </a:xfrm>
        </p:spPr>
        <p:txBody>
          <a:bodyPr anchor="b">
            <a:normAutofit/>
          </a:bodyPr>
          <a:lstStyle/>
          <a:p>
            <a:r>
              <a:rPr lang="fi-FI" dirty="0"/>
              <a:t>Mitä on hajautus (</a:t>
            </a:r>
            <a:r>
              <a:rPr lang="fi-FI" dirty="0" err="1"/>
              <a:t>Hashing</a:t>
            </a:r>
            <a:r>
              <a:rPr lang="fi-FI" dirty="0"/>
              <a:t>)?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DBFF7D-17FE-FBDF-8796-80764ACD02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209786"/>
            <a:ext cx="6005866" cy="35332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i-FI" altLang="fi-FI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Hashing</a:t>
            </a:r>
            <a:r>
              <a:rPr kumimoji="0" lang="fi-FI" altLang="fi-FI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= Yksisuuntainen toiminto, joka muuntaa datan kiinteän pituiseksi merkkijonoksi.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fi-FI" altLang="fi-FI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fi-FI" altLang="fi-FI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Esim. salasana "salasana123" → "e99a18c428cb38d5f260853678922e03”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fi-FI" altLang="fi-FI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fi-FI" altLang="fi-FI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Hajautettu arvo ei paljasta alkuperäistä salasanaa.</a:t>
            </a:r>
          </a:p>
          <a:p>
            <a:pPr marL="2286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fi-FI" altLang="fi-FI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i-FI" altLang="fi-FI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Hash</a:t>
            </a:r>
            <a:r>
              <a:rPr kumimoji="0" lang="fi-FI" altLang="fi-FI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toimii aina samalla tavalla samalla syötteellä, mutta sitä ei voi helposti purkaa.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fi-FI" altLang="fi-FI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Yhteys katkaistu">
            <a:extLst>
              <a:ext uri="{FF2B5EF4-FFF2-40B4-BE49-F238E27FC236}">
                <a16:creationId xmlns:a16="http://schemas.microsoft.com/office/drawing/2014/main" id="{6683474C-EB33-FB20-9440-25C2D47FF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6408" y="1785257"/>
            <a:ext cx="3957819" cy="395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2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7D79009-9D29-6E9A-75AD-AD6C8E49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Miksi tietomurrot eivät aina ole niin pahoja?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D76BC19-B4DD-4B79-075C-F985D0CF38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Tallennetaan </a:t>
            </a:r>
            <a:r>
              <a:rPr lang="fi-FI" b="1" dirty="0"/>
              <a:t>vain hajautetut</a:t>
            </a:r>
            <a:r>
              <a:rPr lang="fi-FI" dirty="0"/>
              <a:t> salasanat, ei alkuperäisiä </a:t>
            </a:r>
          </a:p>
          <a:p>
            <a:r>
              <a:rPr lang="fi-FI" dirty="0"/>
              <a:t>Hyvin toteutetussa järjestelmässä hyökkääjä saa vain käyttökelvotonta dataa</a:t>
            </a:r>
          </a:p>
          <a:p>
            <a:r>
              <a:rPr lang="fi-FI" dirty="0"/>
              <a:t>Lisäksi käytetään suolaa (</a:t>
            </a:r>
            <a:r>
              <a:rPr lang="fi-FI" dirty="0" err="1"/>
              <a:t>salt</a:t>
            </a:r>
            <a:r>
              <a:rPr lang="fi-FI" dirty="0"/>
              <a:t>), joka tekee murrot vielä vaikeammiksi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E5424100-9AC3-A795-9EB4-9FAFE5513A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Jos salasanoja säilytetään hajautettuina, murrossa paljastuu vain hajautusarvot.</a:t>
            </a:r>
          </a:p>
          <a:p>
            <a:pPr lvl="1"/>
            <a:r>
              <a:rPr lang="fi-FI" dirty="0"/>
              <a:t>Esimerkiksi Adobe-murrossa 2013 paljastui 150 miljoonaa </a:t>
            </a:r>
            <a:r>
              <a:rPr lang="fi-FI" dirty="0" err="1"/>
              <a:t>hashia</a:t>
            </a:r>
            <a:r>
              <a:rPr lang="fi-FI" dirty="0"/>
              <a:t>.</a:t>
            </a:r>
          </a:p>
          <a:p>
            <a:pPr marL="228600" lvl="1" indent="0">
              <a:buNone/>
            </a:pPr>
            <a:endParaRPr lang="fi-FI" dirty="0"/>
          </a:p>
          <a:p>
            <a:pPr lvl="1"/>
            <a:r>
              <a:rPr lang="fi-FI" dirty="0"/>
              <a:t>Ilman suolausta ja vahvaa algoritmia osa näistä purettiin.</a:t>
            </a:r>
          </a:p>
          <a:p>
            <a:pPr marL="228600" lvl="1" indent="0">
              <a:buNone/>
            </a:pPr>
            <a:endParaRPr lang="fi-FI" dirty="0"/>
          </a:p>
          <a:p>
            <a:pPr lvl="1"/>
            <a:r>
              <a:rPr lang="fi-FI" dirty="0"/>
              <a:t>Hyvät käytännöt rajoittavat murroista koituvaa haittaa</a:t>
            </a:r>
          </a:p>
        </p:txBody>
      </p:sp>
    </p:spTree>
    <p:extLst>
      <p:ext uri="{BB962C8B-B14F-4D97-AF65-F5344CB8AC3E}">
        <p14:creationId xmlns:p14="http://schemas.microsoft.com/office/powerpoint/2010/main" val="190405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29DE6B3-A3AD-72DF-77F5-77616400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Miten salasanoja voidaan murtaa?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365E204-68A8-6FC2-B63D-9BFFA6640C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b="1" dirty="0"/>
              <a:t>Sanakirjahyökkäys</a:t>
            </a:r>
            <a:r>
              <a:rPr lang="fi-FI" dirty="0"/>
              <a:t> – testataan tunnettuja sanoja</a:t>
            </a:r>
          </a:p>
          <a:p>
            <a:r>
              <a:rPr lang="fi-FI" b="1" dirty="0"/>
              <a:t>Brute </a:t>
            </a:r>
            <a:r>
              <a:rPr lang="fi-FI" b="1" dirty="0" err="1"/>
              <a:t>force</a:t>
            </a:r>
            <a:r>
              <a:rPr lang="fi-FI" dirty="0"/>
              <a:t> – kokeillaan kaikkia mahdollisia yhdistelmiä</a:t>
            </a:r>
          </a:p>
          <a:p>
            <a:r>
              <a:rPr lang="fi-FI" b="1" dirty="0" err="1"/>
              <a:t>Rainbow</a:t>
            </a:r>
            <a:r>
              <a:rPr lang="fi-FI" b="1" dirty="0"/>
              <a:t> </a:t>
            </a:r>
            <a:r>
              <a:rPr lang="fi-FI" b="1" dirty="0" err="1"/>
              <a:t>tables</a:t>
            </a:r>
            <a:r>
              <a:rPr lang="fi-FI" dirty="0"/>
              <a:t> – valmiita hajautusarvoja tunnetuille salasanoille</a:t>
            </a:r>
          </a:p>
          <a:p>
            <a:r>
              <a:rPr lang="fi-FI" b="1" dirty="0" err="1"/>
              <a:t>Keylogging</a:t>
            </a:r>
            <a:r>
              <a:rPr lang="fi-FI" b="1" dirty="0"/>
              <a:t> / </a:t>
            </a:r>
            <a:r>
              <a:rPr lang="fi-FI" b="1" dirty="0" err="1"/>
              <a:t>phishing</a:t>
            </a:r>
            <a:r>
              <a:rPr lang="fi-FI" dirty="0"/>
              <a:t> – huijataan salasana käyttäjältä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C2215514-19F7-2205-5A15-B9588D5494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Esim.</a:t>
            </a:r>
          </a:p>
          <a:p>
            <a:pPr lvl="1"/>
            <a:r>
              <a:rPr lang="fi-FI" dirty="0"/>
              <a:t>Sanakirjahyökkäys: testataan yleisiä salasanoja (esim. '123456', 'kissa’)</a:t>
            </a:r>
          </a:p>
          <a:p>
            <a:pPr lvl="1"/>
            <a:r>
              <a:rPr lang="fi-FI" dirty="0"/>
              <a:t>Suola (</a:t>
            </a:r>
            <a:r>
              <a:rPr lang="fi-FI" dirty="0" err="1"/>
              <a:t>salt</a:t>
            </a:r>
            <a:r>
              <a:rPr lang="fi-FI" dirty="0"/>
              <a:t>) tekee </a:t>
            </a:r>
            <a:r>
              <a:rPr lang="fi-FI" dirty="0" err="1"/>
              <a:t>rainbow</a:t>
            </a:r>
            <a:r>
              <a:rPr lang="fi-FI" dirty="0"/>
              <a:t> </a:t>
            </a:r>
            <a:r>
              <a:rPr lang="fi-FI" dirty="0" err="1"/>
              <a:t>tablet</a:t>
            </a:r>
            <a:r>
              <a:rPr lang="fi-FI" dirty="0"/>
              <a:t> hyödyttömiksi</a:t>
            </a:r>
          </a:p>
        </p:txBody>
      </p:sp>
    </p:spTree>
    <p:extLst>
      <p:ext uri="{BB962C8B-B14F-4D97-AF65-F5344CB8AC3E}">
        <p14:creationId xmlns:p14="http://schemas.microsoft.com/office/powerpoint/2010/main" val="1780280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7482F0F-04C4-60D1-3746-C57D0E29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Mitä ongelmia </a:t>
            </a:r>
            <a:r>
              <a:rPr lang="fi-FI" dirty="0" err="1"/>
              <a:t>hashingissa</a:t>
            </a:r>
            <a:r>
              <a:rPr lang="fi-FI" dirty="0"/>
              <a:t> on?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3CF26D5-FD8E-0B8A-CF0D-0CA5EEDEAA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Sama salasana → sama </a:t>
            </a:r>
            <a:r>
              <a:rPr lang="fi-FI" dirty="0" err="1"/>
              <a:t>hash</a:t>
            </a:r>
            <a:r>
              <a:rPr lang="fi-FI" dirty="0"/>
              <a:t>-arvo</a:t>
            </a:r>
          </a:p>
          <a:p>
            <a:r>
              <a:rPr lang="fi-FI" dirty="0"/>
              <a:t>Ilman </a:t>
            </a:r>
            <a:r>
              <a:rPr lang="fi-FI" b="1" dirty="0"/>
              <a:t>suolaa (</a:t>
            </a:r>
            <a:r>
              <a:rPr lang="fi-FI" b="1" dirty="0" err="1"/>
              <a:t>salt</a:t>
            </a:r>
            <a:r>
              <a:rPr lang="fi-FI" b="1" dirty="0"/>
              <a:t>)</a:t>
            </a:r>
            <a:r>
              <a:rPr lang="fi-FI" dirty="0"/>
              <a:t>, </a:t>
            </a:r>
            <a:r>
              <a:rPr lang="fi-FI" dirty="0" err="1"/>
              <a:t>hash</a:t>
            </a:r>
            <a:r>
              <a:rPr lang="fi-FI" dirty="0"/>
              <a:t> on alttiimpi murroille</a:t>
            </a:r>
          </a:p>
          <a:p>
            <a:r>
              <a:rPr lang="fi-FI" dirty="0"/>
              <a:t>Jos käytetään heikkoa </a:t>
            </a:r>
            <a:r>
              <a:rPr lang="fi-FI" dirty="0" err="1"/>
              <a:t>hash</a:t>
            </a:r>
            <a:r>
              <a:rPr lang="fi-FI" dirty="0"/>
              <a:t>-algoritmia (esim. MD5), se voidaan murtaa helposti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733BB9AD-7EEE-9A6E-FA7C-A8D583B5E7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Nopeita algoritmeja (MD5, SHA-1) voidaan käyttää </a:t>
            </a:r>
            <a:r>
              <a:rPr lang="fi-FI" dirty="0" err="1"/>
              <a:t>brute</a:t>
            </a:r>
            <a:r>
              <a:rPr lang="fi-FI" dirty="0"/>
              <a:t> </a:t>
            </a:r>
            <a:r>
              <a:rPr lang="fi-FI" dirty="0" err="1"/>
              <a:t>forceen</a:t>
            </a:r>
            <a:endParaRPr lang="fi-FI" dirty="0"/>
          </a:p>
          <a:p>
            <a:r>
              <a:rPr lang="fi-FI" dirty="0"/>
              <a:t>Ratkaisut:</a:t>
            </a:r>
          </a:p>
          <a:p>
            <a:pPr lvl="1"/>
            <a:r>
              <a:rPr lang="fi-FI" dirty="0"/>
              <a:t>Käytä suolaa (</a:t>
            </a:r>
            <a:r>
              <a:rPr lang="fi-FI" dirty="0" err="1"/>
              <a:t>salt</a:t>
            </a:r>
            <a:r>
              <a:rPr lang="fi-FI" dirty="0"/>
              <a:t>)</a:t>
            </a:r>
          </a:p>
          <a:p>
            <a:pPr lvl="1"/>
            <a:r>
              <a:rPr lang="fi-FI" dirty="0"/>
              <a:t>Käytä hitaita algoritmeja (</a:t>
            </a:r>
            <a:r>
              <a:rPr lang="fi-FI" dirty="0" err="1"/>
              <a:t>bcrypt</a:t>
            </a:r>
            <a:r>
              <a:rPr lang="fi-FI" dirty="0"/>
              <a:t>, Argon2)</a:t>
            </a:r>
          </a:p>
          <a:p>
            <a:pPr lvl="1"/>
            <a:endParaRPr lang="fi-FI" dirty="0"/>
          </a:p>
          <a:p>
            <a:r>
              <a:rPr lang="fi-FI" dirty="0"/>
              <a:t>Esimerkki:</a:t>
            </a:r>
          </a:p>
          <a:p>
            <a:pPr lvl="1"/>
            <a:r>
              <a:rPr lang="fi-FI" dirty="0"/>
              <a:t>'salasana' -&gt; </a:t>
            </a:r>
            <a:r>
              <a:rPr lang="fi-FI" dirty="0" err="1"/>
              <a:t>hashataan</a:t>
            </a:r>
            <a:r>
              <a:rPr lang="fi-FI" dirty="0"/>
              <a:t> eri tavalla eri käyttäjillä suolan avulla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6305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39281DF-D290-1215-6564-6AD1D9AB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Miksi salasanan ei kannata olla tunnetusta kielestä?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D5CE476-8D52-7F7B-D910-309E1314B9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Sanakirjahyökkäys toimii helposti</a:t>
            </a:r>
          </a:p>
          <a:p>
            <a:pPr lvl="1"/>
            <a:r>
              <a:rPr lang="fi-FI" dirty="0"/>
              <a:t>Koneet voivat testata miljoonia tunnettuja sanoja sekunnissa</a:t>
            </a:r>
          </a:p>
          <a:p>
            <a:pPr lvl="1"/>
            <a:r>
              <a:rPr lang="fi-FI" dirty="0"/>
              <a:t>Esim. "omena123" → arvattavissa helposti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5DD85A8E-F381-1115-D131-C5E8BDBDE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Vältä tunnettuja sanoja ja fraaseja</a:t>
            </a:r>
          </a:p>
          <a:p>
            <a:pPr marL="0" indent="0">
              <a:buNone/>
            </a:pPr>
            <a:endParaRPr lang="fi-FI" dirty="0"/>
          </a:p>
          <a:p>
            <a:pPr lvl="1"/>
            <a:r>
              <a:rPr lang="fi-FI" dirty="0"/>
              <a:t>Parempi: 'nG7#zQ1lP@5k' tai</a:t>
            </a:r>
          </a:p>
          <a:p>
            <a:pPr marL="228600" lvl="1" indent="0">
              <a:buNone/>
            </a:pPr>
            <a:r>
              <a:rPr lang="fi-FI" dirty="0"/>
              <a:t>    pitkä </a:t>
            </a:r>
            <a:r>
              <a:rPr lang="fi-FI" dirty="0" err="1"/>
              <a:t>passphrase</a:t>
            </a:r>
            <a:r>
              <a:rPr lang="fi-FI" dirty="0"/>
              <a:t>:    	'sateinenMetsä2025onKaunis'.</a:t>
            </a:r>
          </a:p>
        </p:txBody>
      </p:sp>
    </p:spTree>
    <p:extLst>
      <p:ext uri="{BB962C8B-B14F-4D97-AF65-F5344CB8AC3E}">
        <p14:creationId xmlns:p14="http://schemas.microsoft.com/office/powerpoint/2010/main" val="2455545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4578949-23E8-560F-2029-B61A38BA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Mikä tekee salasanasta hyvän? 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FEC0824-363B-B937-415E-0CC762AB05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b="1" dirty="0"/>
              <a:t>Pituus</a:t>
            </a:r>
            <a:r>
              <a:rPr lang="fi-FI" dirty="0"/>
              <a:t> – vähintään 12 merkkiä</a:t>
            </a:r>
          </a:p>
          <a:p>
            <a:r>
              <a:rPr lang="fi-FI" b="1" dirty="0"/>
              <a:t>Monimuotoisuus</a:t>
            </a:r>
            <a:r>
              <a:rPr lang="fi-FI" dirty="0"/>
              <a:t> – isot ja pienet kirjaimet, numerot, erikoismerkit</a:t>
            </a:r>
          </a:p>
          <a:p>
            <a:r>
              <a:rPr lang="fi-FI" dirty="0"/>
              <a:t>Ei sanoja tai nimiä</a:t>
            </a:r>
          </a:p>
          <a:p>
            <a:r>
              <a:rPr lang="fi-FI" dirty="0"/>
              <a:t>Ei henkilökohtainen (nimi, syntymäaika, lemmikki)</a:t>
            </a:r>
          </a:p>
          <a:p>
            <a:r>
              <a:rPr lang="fi-FI" b="1" dirty="0"/>
              <a:t>Uniikki</a:t>
            </a:r>
            <a:r>
              <a:rPr lang="fi-FI" dirty="0"/>
              <a:t> – eri salasana eri </a:t>
            </a:r>
            <a:r>
              <a:rPr lang="fi-FI" dirty="0" err="1"/>
              <a:t>palveluu</a:t>
            </a:r>
            <a:endParaRPr lang="fi-FI" dirty="0"/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A7D0DA6B-F0CD-47FD-E079-A044A2EF87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Esim. 'Tg#28Lp!vR9Z' tai 'Metsä!Aurinko2024#'</a:t>
            </a:r>
          </a:p>
          <a:p>
            <a:pPr marL="0" indent="0">
              <a:buNone/>
            </a:pP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3714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D48E39A-85DA-7A8C-4ECC-3CFD0465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Salasanan pituus – merkitys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109FC31-037F-3674-D5E4-47FE4ED895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4 merkin salasanoja: vain 456 976 mahdollista</a:t>
            </a:r>
          </a:p>
          <a:p>
            <a:r>
              <a:rPr lang="fi-FI" dirty="0"/>
              <a:t>7 merkin salasanoja: yli 8 miljardia mahdollisuutta</a:t>
            </a:r>
          </a:p>
          <a:p>
            <a:r>
              <a:rPr lang="fi-FI" dirty="0"/>
              <a:t>Jokainen lisämerkki tekee murtamisesta moninkertaisesti vaikeampaa</a:t>
            </a:r>
          </a:p>
          <a:p>
            <a:r>
              <a:rPr lang="fi-FI" dirty="0"/>
              <a:t>Brute </a:t>
            </a:r>
            <a:r>
              <a:rPr lang="fi-FI" dirty="0" err="1"/>
              <a:t>force</a:t>
            </a:r>
            <a:r>
              <a:rPr lang="fi-FI" dirty="0"/>
              <a:t> -hyökkäys kestää merkittävästi kauemmin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94EFFD44-1622-76D1-F880-75FE9547BC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Esimerkki:</a:t>
            </a:r>
          </a:p>
          <a:p>
            <a:pPr lvl="1"/>
            <a:r>
              <a:rPr lang="fi-FI" dirty="0"/>
              <a:t>'Ab1$' vs. 'Ab1$9kT' – jälkimmäinen on käytännössä mahdoton murtaa nopeasti</a:t>
            </a:r>
          </a:p>
        </p:txBody>
      </p:sp>
    </p:spTree>
    <p:extLst>
      <p:ext uri="{BB962C8B-B14F-4D97-AF65-F5344CB8AC3E}">
        <p14:creationId xmlns:p14="http://schemas.microsoft.com/office/powerpoint/2010/main" val="375579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4E56A49-57E2-34EC-0945-FAF81776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Miten salasanoja kannattaa hallita?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AF4EAD6-9830-19D3-165A-4405387A5D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b="1" dirty="0"/>
              <a:t>Salasananhallintaohjelmat</a:t>
            </a:r>
            <a:r>
              <a:rPr lang="fi-FI" dirty="0"/>
              <a:t> (esim. </a:t>
            </a:r>
            <a:r>
              <a:rPr lang="fi-FI" dirty="0" err="1"/>
              <a:t>Bitwarden</a:t>
            </a:r>
            <a:r>
              <a:rPr lang="fi-FI" dirty="0"/>
              <a:t>, 1Password, </a:t>
            </a:r>
            <a:r>
              <a:rPr lang="fi-FI" dirty="0" err="1"/>
              <a:t>KeePass</a:t>
            </a:r>
            <a:r>
              <a:rPr lang="fi-FI" dirty="0"/>
              <a:t>)</a:t>
            </a:r>
          </a:p>
          <a:p>
            <a:r>
              <a:rPr lang="fi-FI" b="1" dirty="0"/>
              <a:t>Muistisäännöt</a:t>
            </a:r>
            <a:r>
              <a:rPr lang="fi-FI" dirty="0"/>
              <a:t> tai </a:t>
            </a:r>
            <a:r>
              <a:rPr lang="fi-FI" b="1" dirty="0"/>
              <a:t>lauserakenteet</a:t>
            </a:r>
            <a:r>
              <a:rPr lang="fi-FI" dirty="0"/>
              <a:t> (esim. "MunKissaJuoksi42Nopeasti!")</a:t>
            </a:r>
          </a:p>
          <a:p>
            <a:r>
              <a:rPr lang="fi-FI" dirty="0"/>
              <a:t>Älä käytä samaa salasanaa useassa palvelussa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0F12B8D7-8E40-AF33-E00E-29AC117C79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Käytä 2FA (kaksivaiheinen tunnistus)</a:t>
            </a:r>
          </a:p>
          <a:p>
            <a:r>
              <a:rPr lang="fi-FI" dirty="0"/>
              <a:t>Älä säilytä salasanoja paperilla tai selaimen muistissa ilman suojausta</a:t>
            </a:r>
          </a:p>
        </p:txBody>
      </p:sp>
    </p:spTree>
    <p:extLst>
      <p:ext uri="{BB962C8B-B14F-4D97-AF65-F5344CB8AC3E}">
        <p14:creationId xmlns:p14="http://schemas.microsoft.com/office/powerpoint/2010/main" val="1027421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56E6890-45F1-453F-2D3B-184739CA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Mitä on kryptaus (</a:t>
            </a:r>
            <a:r>
              <a:rPr lang="fi-FI" dirty="0" err="1"/>
              <a:t>Encryption</a:t>
            </a:r>
            <a:r>
              <a:rPr lang="fi-FI" dirty="0"/>
              <a:t>)?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B0B3BEE-23FD-9D45-2869-7AB19DB29F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Tietojen muuntaminen siten, että niitä ei voi lukea ilman avainta</a:t>
            </a:r>
          </a:p>
          <a:p>
            <a:pPr lvl="1"/>
            <a:r>
              <a:rPr lang="fi-FI" dirty="0"/>
              <a:t>Esim. salattu sähköposti tai tiedosto</a:t>
            </a:r>
          </a:p>
          <a:p>
            <a:r>
              <a:rPr lang="fi-FI" b="1" dirty="0"/>
              <a:t>Toisin kuin </a:t>
            </a:r>
            <a:r>
              <a:rPr lang="fi-FI" b="1" dirty="0" err="1"/>
              <a:t>hashing</a:t>
            </a:r>
            <a:r>
              <a:rPr lang="fi-FI" dirty="0"/>
              <a:t>, kryptaus voidaan purkaa oikealla avaimella</a:t>
            </a:r>
          </a:p>
          <a:p>
            <a:endParaRPr lang="fi-FI" dirty="0"/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93202235-84B7-F9AB-83A2-44086E16A6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Se on salausta, joka tekee tiedosta lukukelvotonta ilman avainta</a:t>
            </a:r>
          </a:p>
          <a:p>
            <a:pPr lvl="1"/>
            <a:r>
              <a:rPr lang="fi-FI" dirty="0"/>
              <a:t>Esimerkiksi viesti 'Hei' -&gt; salattu muoto: 'k8s$92f...'</a:t>
            </a:r>
          </a:p>
        </p:txBody>
      </p:sp>
    </p:spTree>
    <p:extLst>
      <p:ext uri="{BB962C8B-B14F-4D97-AF65-F5344CB8AC3E}">
        <p14:creationId xmlns:p14="http://schemas.microsoft.com/office/powerpoint/2010/main" val="1572634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18CD9B2-4B65-1257-FC74-13650EA3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Miten kryptaus toimii?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6A9A4C5-C0B6-B8F9-89BC-7CBB98B66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fi-FI" b="1" dirty="0"/>
              <a:t>Symmetrinen kryptaus:</a:t>
            </a:r>
            <a:endParaRPr lang="fi-FI" dirty="0"/>
          </a:p>
          <a:p>
            <a:pPr>
              <a:buFont typeface="Arial" panose="020B0604020202020204" pitchFamily="34" charset="0"/>
              <a:buChar char="•"/>
            </a:pPr>
            <a:r>
              <a:rPr lang="fi-FI" dirty="0"/>
              <a:t>Sama avain salaukseen ja purkuun.</a:t>
            </a:r>
          </a:p>
          <a:p>
            <a:endParaRPr lang="fi-FI" dirty="0"/>
          </a:p>
          <a:p>
            <a:pPr>
              <a:buNone/>
            </a:pPr>
            <a:r>
              <a:rPr lang="fi-FI" b="1" dirty="0"/>
              <a:t>Epäsymmetrinen kryptaus:</a:t>
            </a:r>
            <a:endParaRPr lang="fi-FI" dirty="0"/>
          </a:p>
          <a:p>
            <a:pPr>
              <a:buFont typeface="Arial" panose="020B0604020202020204" pitchFamily="34" charset="0"/>
              <a:buChar char="•"/>
            </a:pPr>
            <a:r>
              <a:rPr lang="fi-FI" dirty="0"/>
              <a:t>Julkinen avain salaukseen, yksityinen purkamiseen</a:t>
            </a:r>
          </a:p>
          <a:p>
            <a:pPr marL="0" indent="0">
              <a:buNone/>
            </a:pPr>
            <a:r>
              <a:rPr lang="fi-FI" dirty="0"/>
              <a:t>Esimerkiksi HTTPS käyttää kryptausta tiedonsiirrossa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D76A7028-D1F7-404E-9791-FF98B09D5A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Symmetrinen kryptaus:</a:t>
            </a:r>
          </a:p>
          <a:p>
            <a:pPr lvl="1"/>
            <a:r>
              <a:rPr lang="fi-FI" dirty="0"/>
              <a:t>Yksi avain salaukseen ja purkuun</a:t>
            </a:r>
          </a:p>
          <a:p>
            <a:pPr lvl="1"/>
            <a:r>
              <a:rPr lang="fi-FI" dirty="0"/>
              <a:t> Nopea, mutta avain pitää jakaa turvallisesti</a:t>
            </a:r>
          </a:p>
          <a:p>
            <a:r>
              <a:rPr lang="fi-FI" dirty="0"/>
              <a:t>Epäsymmetrinen kryptaus:</a:t>
            </a:r>
          </a:p>
          <a:p>
            <a:pPr lvl="1"/>
            <a:r>
              <a:rPr lang="fi-FI" dirty="0"/>
              <a:t>Julkinen avain salaukseen, yksityinen purkuun</a:t>
            </a:r>
          </a:p>
          <a:p>
            <a:pPr lvl="1"/>
            <a:r>
              <a:rPr lang="fi-FI" dirty="0"/>
              <a:t>Esim. sähköpostin salaaminen (PGP)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1431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A81645B-130E-49DC-83A3-62D3D7BD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Mitä ongelmia kryptauksessa on?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4212266-EBDB-6CB1-8A16-71BDC2AFF9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Avainten hallinta – missä säilyttää turvallisesti?</a:t>
            </a:r>
          </a:p>
          <a:p>
            <a:r>
              <a:rPr lang="fi-FI" dirty="0"/>
              <a:t>Heikot algoritmit – voidaan murtaa</a:t>
            </a:r>
          </a:p>
          <a:p>
            <a:r>
              <a:rPr lang="fi-FI" dirty="0"/>
              <a:t>Ihmisten virheet – avaimet unohtuvat, lähetetään väärään paikkaan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5EB1C722-2F4F-9DCF-A1A6-9FA24D2A87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Jos avain vuotaa, tieto ei ole enää turvassa</a:t>
            </a:r>
          </a:p>
          <a:p>
            <a:r>
              <a:rPr lang="fi-FI" dirty="0"/>
              <a:t>Vanhat algoritmit voivat olla murrettavissa</a:t>
            </a:r>
          </a:p>
          <a:p>
            <a:r>
              <a:rPr lang="fi-FI" dirty="0"/>
              <a:t>Salauksen purku vaatii resursseja ja voi olla hidas</a:t>
            </a:r>
          </a:p>
        </p:txBody>
      </p:sp>
    </p:spTree>
    <p:extLst>
      <p:ext uri="{BB962C8B-B14F-4D97-AF65-F5344CB8AC3E}">
        <p14:creationId xmlns:p14="http://schemas.microsoft.com/office/powerpoint/2010/main" val="4273305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D984620-C0BA-AA3A-1603-C4A8CE8D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Mitä tietoja kannattaa kryptata ja milloin?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CDE8D96-905C-AC54-C247-31F5959666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Henkilötiedot, salasanat, luottokorttitiedot</a:t>
            </a:r>
          </a:p>
          <a:p>
            <a:r>
              <a:rPr lang="fi-FI" dirty="0"/>
              <a:t>Kun tieto lähetetään verkossa tai tallennetaan pilveen</a:t>
            </a:r>
          </a:p>
          <a:p>
            <a:r>
              <a:rPr lang="fi-FI" dirty="0"/>
              <a:t>Myös varmuuskopiot kannattaa salata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AFDE4D3D-E9EF-F7F1-2B05-339C85A0B9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Kryptaus tärkeää varsinkin siirrettäessä tietoa netissä (HTTPS, VPN, sähköposti)</a:t>
            </a:r>
          </a:p>
        </p:txBody>
      </p:sp>
    </p:spTree>
    <p:extLst>
      <p:ext uri="{BB962C8B-B14F-4D97-AF65-F5344CB8AC3E}">
        <p14:creationId xmlns:p14="http://schemas.microsoft.com/office/powerpoint/2010/main" val="1276472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sikko 4">
            <a:extLst>
              <a:ext uri="{FF2B5EF4-FFF2-40B4-BE49-F238E27FC236}">
                <a16:creationId xmlns:a16="http://schemas.microsoft.com/office/drawing/2014/main" id="{330E562B-33E3-B869-A9F7-5211D3DC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fi-FI" dirty="0"/>
              <a:t>Yhteenveto</a:t>
            </a:r>
          </a:p>
        </p:txBody>
      </p:sp>
      <p:graphicFrame>
        <p:nvGraphicFramePr>
          <p:cNvPr id="8" name="Sisällön paikkamerkki 5">
            <a:extLst>
              <a:ext uri="{FF2B5EF4-FFF2-40B4-BE49-F238E27FC236}">
                <a16:creationId xmlns:a16="http://schemas.microsoft.com/office/drawing/2014/main" id="{F56EBF57-F491-8596-33AB-7B0B0313D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83947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008262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718</Words>
  <Application>Microsoft Office PowerPoint</Application>
  <PresentationFormat>Laajakuva</PresentationFormat>
  <Paragraphs>112</Paragraphs>
  <Slides>15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2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15</vt:i4>
      </vt:variant>
    </vt:vector>
  </HeadingPairs>
  <TitlesOfParts>
    <vt:vector size="18" baseType="lpstr">
      <vt:lpstr>Arial</vt:lpstr>
      <vt:lpstr>Neue Haas Grotesk Text Pro</vt:lpstr>
      <vt:lpstr>VanillaVTI</vt:lpstr>
      <vt:lpstr>Turvallisuuden perusta</vt:lpstr>
      <vt:lpstr>Kaksi tapaa käyttää salasanoja</vt:lpstr>
      <vt:lpstr>Mitä on hajautus (Hashing)?</vt:lpstr>
      <vt:lpstr>Miksi tietomurrot eivät aina ole niin pahoja?</vt:lpstr>
      <vt:lpstr>Miten salasanoja voidaan murtaa?</vt:lpstr>
      <vt:lpstr>Mitä ongelmia hashingissa on?</vt:lpstr>
      <vt:lpstr>Miksi salasanan ei kannata olla tunnetusta kielestä?</vt:lpstr>
      <vt:lpstr>Mikä tekee salasanasta hyvän? </vt:lpstr>
      <vt:lpstr>Salasanan pituus – merkitys</vt:lpstr>
      <vt:lpstr>Miten salasanoja kannattaa hallita?</vt:lpstr>
      <vt:lpstr>Mitä on kryptaus (Encryption)?</vt:lpstr>
      <vt:lpstr>Miten kryptaus toimii?</vt:lpstr>
      <vt:lpstr>Mitä ongelmia kryptauksessa on?</vt:lpstr>
      <vt:lpstr>Mitä tietoja kannattaa kryptata ja milloin?</vt:lpstr>
      <vt:lpstr>Yhteenveto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Ruokanen Aki</dc:creator>
  <cp:lastModifiedBy>Ruokanen Aki</cp:lastModifiedBy>
  <cp:revision>1</cp:revision>
  <dcterms:created xsi:type="dcterms:W3CDTF">2025-04-03T06:21:59Z</dcterms:created>
  <dcterms:modified xsi:type="dcterms:W3CDTF">2025-04-03T06:51:13Z</dcterms:modified>
</cp:coreProperties>
</file>